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3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9A97C5-6305-4F4A-A62B-18899C065D45}" v="42" dt="2026-04-20T07:49:10.5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55D581-A088-49B3-830D-B9ED10D814B8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F2B9E3-7C23-4EDE-AD8A-9485BAE56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414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DDFCFA-D504-4CC3-AA25-92B541CD555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675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CCD2F-8AFD-6357-390C-A69913164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B574B8-EB92-81CC-BEA1-63AD90F2BD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63385-E17E-1E84-3591-6EBC7346E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2C0B9-DD27-4021-9707-5A5A9409DB67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ED6C2-E068-500A-92DC-E43CE8B56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E6B06-57C5-C0F0-3DE1-1478AD770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C4878-C6F8-46C5-B68F-5C43A8316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114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D9251-9DDD-EA22-476D-E561C9841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EE2BA-CB00-2715-D370-74B8D5084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F6C54-4538-8BB9-25F9-337A94C18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2C0B9-DD27-4021-9707-5A5A9409DB67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23F1E-47D8-9EA2-CC5F-B725B3DC2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957E7-DA9E-7533-B69E-2580AAE43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C4878-C6F8-46C5-B68F-5C43A8316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374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5957-6F52-1DF0-BD18-2E5663A89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721CE5-6218-D99F-10EE-CFFCF713E7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D683C-0271-C3D8-5168-20E44FD35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2C0B9-DD27-4021-9707-5A5A9409DB67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00E91-6BBE-A055-AFFD-84BBE0526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7EFEC-3423-2031-1520-84A7F8817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C4878-C6F8-46C5-B68F-5C43A8316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314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1CAC2-DFBB-28EF-7AA8-0817EE9EB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9C3DE-546A-8C9D-B0CF-8CA388754C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1F3E96-14F6-B990-8B21-75BA00649A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E8062-ACE1-9866-F490-93689BE18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2C0B9-DD27-4021-9707-5A5A9409DB67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DFA28-A32F-988E-2058-B440E0782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2254E-5150-1688-205F-B262AECE8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C4878-C6F8-46C5-B68F-5C43A8316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633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E0C17-55ED-897E-D745-70868B120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BD491-66F9-4518-115E-FA6F61099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2E6978-921E-A1D2-A211-00A14EFCA3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233C04-D841-B398-4DAD-BAAED4105C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F17E45-EBFD-F6BE-7D25-048EC03855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CAF987-B91C-4158-CFDC-FAA514FF3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2C0B9-DD27-4021-9707-5A5A9409DB67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B76763-7BB0-A6E1-F5FC-1D8E751FB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A8C254-61F3-9C90-FCCA-B0532648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C4878-C6F8-46C5-B68F-5C43A8316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053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1659-02ED-4DB7-0707-C531C3650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7C54B3-079C-140F-574C-5CEC12C54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2C0B9-DD27-4021-9707-5A5A9409DB67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CCFCB8-5755-E9CC-26BE-230CF091F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2A92F-350B-3A95-7632-536627390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C4878-C6F8-46C5-B68F-5C43A8316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157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787B40-DC6E-D95B-7AFD-52CAF352A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2C0B9-DD27-4021-9707-5A5A9409DB67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530516-DE38-2E84-7A2A-4CE13265B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9BFBB-17DE-A63B-990C-E67C6EE09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C4878-C6F8-46C5-B68F-5C43A8316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427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91BCF-18E3-9B52-17D1-642269863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B6003-175E-96E4-1BB1-D125DD6ED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AC4A12-9051-06AC-D136-C8A10E02BB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36D0D4-38F4-B555-9C04-ED76641B4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2C0B9-DD27-4021-9707-5A5A9409DB67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A6A6C4-BD1C-CC6D-E73C-B7CFFE943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E143F2-FCCD-964E-7EB7-C0135DB24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C4878-C6F8-46C5-B68F-5C43A8316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8126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8D7E4-1654-8C62-7CAD-B4EFFE45A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CC20FB-B39F-C791-2D00-1B7C18CCAF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CEA4E6-C0FF-14ED-AA73-B28EF0AA0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4B6DF5-9004-3D58-0398-8A6A4814C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2C0B9-DD27-4021-9707-5A5A9409DB67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BA5625-90E4-6585-0313-AFAFEA850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CA43F-249A-8086-7C4C-96F3E0622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C4878-C6F8-46C5-B68F-5C43A8316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609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EB3DE-04D9-646B-457B-B21C58660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748469-B32B-AC10-BFEB-B8B4F6FF6C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94BA9-C93D-5952-BC1F-6EF4411B8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2C0B9-DD27-4021-9707-5A5A9409DB67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389A2-6810-A00B-F658-DEC3D8C34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CC753-6FCE-1388-2497-78E8668D3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C4878-C6F8-46C5-B68F-5C43A8316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503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94F73D-3BF4-4BBC-8425-C9754F7A2A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85A20F-D4D9-B7D6-0FAB-EF0180D38E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40D39-7935-F777-084A-5B8D3CBDB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2C0B9-DD27-4021-9707-5A5A9409DB67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7E15C-4B2E-DF7C-3A45-7D4A22EAB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6CA8C-B258-AB18-E882-55B94D0BA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C4878-C6F8-46C5-B68F-5C43A8316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846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E10C9F-6AE3-C287-40A1-1741B9707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F211E-06D7-F871-41F6-A76F9966C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F4FB7-E3E4-4FCB-5395-10AF571228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2C0B9-DD27-4021-9707-5A5A9409DB67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1B946-E975-DC73-E5D3-B9DF4E2D0E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EF13A-DFBF-EE06-A0D2-6F7C90598A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C4878-C6F8-46C5-B68F-5C43A8316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6172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9A07C-9336-C688-15BB-02CF051FEF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402" y="219933"/>
            <a:ext cx="8719794" cy="1077848"/>
          </a:xfr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>
              <a:lnSpc>
                <a:spcPts val="4450"/>
              </a:lnSpc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Internship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7B8AED-179D-A346-D789-31DB59BA9D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6982" y="1652230"/>
            <a:ext cx="5426695" cy="2971799"/>
          </a:xfrm>
          <a:noFill/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>
            <a:noAutofit/>
          </a:bodyPr>
          <a:lstStyle/>
          <a:p>
            <a:pPr algn="l">
              <a:spcBef>
                <a:spcPts val="500"/>
              </a:spcBef>
            </a:pPr>
            <a:r>
              <a:rPr lang="en-IN" sz="4400" b="1" dirty="0">
                <a:latin typeface="Bodoni MT Black" panose="02070A03080606020203" pitchFamily="18" charset="0"/>
                <a:cs typeface="Times New Roman" panose="02020603050405020304" pitchFamily="18" charset="0"/>
              </a:rPr>
              <a:t>Smart </a:t>
            </a:r>
          </a:p>
          <a:p>
            <a:pPr algn="l">
              <a:spcBef>
                <a:spcPts val="500"/>
              </a:spcBef>
            </a:pPr>
            <a:r>
              <a:rPr lang="en-IN" sz="4400" b="1" dirty="0">
                <a:latin typeface="Bodoni MT Black" panose="02070A03080606020203" pitchFamily="18" charset="0"/>
                <a:cs typeface="Times New Roman" panose="02020603050405020304" pitchFamily="18" charset="0"/>
              </a:rPr>
              <a:t>Factory </a:t>
            </a:r>
          </a:p>
          <a:p>
            <a:pPr algn="l">
              <a:spcBef>
                <a:spcPts val="500"/>
              </a:spcBef>
            </a:pPr>
            <a:r>
              <a:rPr lang="en-IN" sz="4400" b="1" dirty="0">
                <a:latin typeface="Bodoni MT Black" panose="02070A03080606020203" pitchFamily="18" charset="0"/>
                <a:cs typeface="Times New Roman" panose="02020603050405020304" pitchFamily="18" charset="0"/>
              </a:rPr>
              <a:t>Monitoring </a:t>
            </a:r>
          </a:p>
          <a:p>
            <a:pPr algn="l">
              <a:spcBef>
                <a:spcPts val="50"/>
              </a:spcBef>
            </a:pPr>
            <a:r>
              <a:rPr lang="en-IN" sz="4400" b="1" dirty="0">
                <a:latin typeface="Bodoni MT Black" panose="02070A03080606020203" pitchFamily="18" charset="0"/>
                <a:cs typeface="Times New Roman" panose="02020603050405020304" pitchFamily="18" charset="0"/>
              </a:rPr>
              <a:t>System</a:t>
            </a:r>
          </a:p>
        </p:txBody>
      </p:sp>
      <p:pic>
        <p:nvPicPr>
          <p:cNvPr id="1026" name="Picture 2" descr="Image attachment">
            <a:extLst>
              <a:ext uri="{FF2B5EF4-FFF2-40B4-BE49-F238E27FC236}">
                <a16:creationId xmlns:a16="http://schemas.microsoft.com/office/drawing/2014/main" id="{93DA4346-2560-C2DD-EEE1-201C6F266F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5"/>
          <a:stretch>
            <a:fillRect/>
          </a:stretch>
        </p:blipFill>
        <p:spPr bwMode="auto">
          <a:xfrm>
            <a:off x="141402" y="1395167"/>
            <a:ext cx="6403549" cy="5396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9BA9EB-D17B-3656-6446-62FF2B752869}"/>
              </a:ext>
            </a:extLst>
          </p:cNvPr>
          <p:cNvSpPr txBox="1"/>
          <p:nvPr/>
        </p:nvSpPr>
        <p:spPr>
          <a:xfrm>
            <a:off x="8440132" y="4374366"/>
            <a:ext cx="37518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By:-</a:t>
            </a:r>
          </a:p>
          <a:p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Tejaswhi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 Y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Toshita L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Nisarga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Hosamani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Emertxe Certified IoT Programmer (ECIP)">
            <a:extLst>
              <a:ext uri="{FF2B5EF4-FFF2-40B4-BE49-F238E27FC236}">
                <a16:creationId xmlns:a16="http://schemas.microsoft.com/office/drawing/2014/main" id="{A19D201B-5857-53EE-9CDD-3C82C6FF7C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035489" y="144520"/>
            <a:ext cx="2936553" cy="12506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33139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AD31E-A83D-ED9D-9EF5-4A17E19A6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EE2B1-794D-E0F4-C879-D4A1DAD67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of Things (IoT) is a network of physical devices connected to the internet that can collect and exchange data.</a:t>
            </a:r>
          </a:p>
          <a:p>
            <a:pPr algn="just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devices include sensors, appliances, vehicles, and machines embedded with software and connectivity.</a:t>
            </a:r>
          </a:p>
          <a:p>
            <a:pPr algn="just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enables devices to communicate with each other without human intervention.</a:t>
            </a:r>
          </a:p>
          <a:p>
            <a:pPr algn="just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 real-time monitoring, control, and automation of systems.</a:t>
            </a:r>
          </a:p>
          <a:p>
            <a:pPr algn="just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is widely used in smart homes, healthcare, agriculture, and industries.</a:t>
            </a:r>
          </a:p>
          <a:p>
            <a:pPr algn="just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it improves efficiency, accuracy, and convenience in daily life.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0617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CD7A2-24B1-26AE-BA92-4C92FBBEC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6A44F-F24D-10BF-12D1-C0F42A63E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Smart Homes: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IoT is used in smart lights, fans, thermostats, and security systems.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Healthcare: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wearable devices to monitor heart rate, temperature, and health conditions in real time.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Agriculture: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helps in smart farming by monitoring soil moisture, weather, and crop health.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Smart Cities: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traffic management, smart street lighting, waste management, and pollution control.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Industrial IoT: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factories for machine monitoring, predictive maintenance, and automation.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Transportation: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is used in smart vehicles, GPS tracking, and fleet management.</a:t>
            </a:r>
          </a:p>
        </p:txBody>
      </p:sp>
    </p:spTree>
    <p:extLst>
      <p:ext uri="{BB962C8B-B14F-4D97-AF65-F5344CB8AC3E}">
        <p14:creationId xmlns:p14="http://schemas.microsoft.com/office/powerpoint/2010/main" val="722338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B40B4-EE03-2746-3662-B2508135F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OF IOT: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E02A4-6AC0-CE6D-C738-AE0D5929A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monitoring and control: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 can be controlled from anywhere using the internet.</a:t>
            </a:r>
          </a:p>
          <a:p>
            <a:pPr>
              <a:lnSpc>
                <a:spcPct val="10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like switching lights, watering plants, or running machines happen automatically.</a:t>
            </a:r>
          </a:p>
          <a:p>
            <a:pPr>
              <a:lnSpc>
                <a:spcPct val="10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collect real-time data (temperature, humidity, location, etc.).</a:t>
            </a:r>
          </a:p>
          <a:p>
            <a:pPr>
              <a:lnSpc>
                <a:spcPct val="10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efficiency: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save time, energy, and resources in homes and industries.</a:t>
            </a:r>
          </a:p>
          <a:p>
            <a:pPr>
              <a:lnSpc>
                <a:spcPct val="10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decision-making: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data is analyzed to make smart decisions.</a:t>
            </a:r>
          </a:p>
          <a:p>
            <a:pPr>
              <a:lnSpc>
                <a:spcPct val="10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and security: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surveillance, alerts, and emergency systems.</a:t>
            </a:r>
          </a:p>
          <a:p>
            <a:pPr>
              <a:lnSpc>
                <a:spcPct val="10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reduction: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and maintenance costs.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411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E22B8-B07E-67C1-E187-E885D1AF7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09910"/>
            <a:ext cx="10515600" cy="2604318"/>
          </a:xfrm>
        </p:spPr>
        <p:txBody>
          <a:bodyPr>
            <a:normAutofit/>
          </a:bodyPr>
          <a:lstStyle/>
          <a:p>
            <a:pPr algn="ctr">
              <a:spcBef>
                <a:spcPts val="500"/>
              </a:spcBef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PROJECT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:-</a:t>
            </a:r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Factory Monitoring System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C8119-BDCB-A8FD-485B-F32A8E181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12" y="1672369"/>
            <a:ext cx="10515600" cy="499018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Smart IoT Factory uses connected sensors, devices, and platforms (like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ThingsBoard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CE) to monitor, control, and optimize industrial operations in real time. Communication is enabled using protocols such as MQTT.</a:t>
            </a:r>
          </a:p>
          <a:p>
            <a:pPr algn="just">
              <a:lnSpc>
                <a:spcPct val="10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Monitoring: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Sensors continuously track temperature, humidity, and air quality across factory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zones.This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proper working conditions, protects equipment, and maintains product quality.</a:t>
            </a:r>
          </a:p>
          <a:p>
            <a:pPr algn="just">
              <a:lnSpc>
                <a:spcPct val="10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Maintenance: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(vibration, current) detect early signs of machine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faults.This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in preventing breakdowns, reducing downtime, and saving maintenance costs.</a:t>
            </a:r>
          </a:p>
          <a:p>
            <a:pPr algn="just">
              <a:lnSpc>
                <a:spcPct val="10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&amp; Emergency Response: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systems trigger automatic alerts and shutdowns during emergencies (like gas leaks or overheating).This improves worker safety and prevents major accidents.</a:t>
            </a:r>
          </a:p>
          <a:p>
            <a:pPr algn="just">
              <a:lnSpc>
                <a:spcPct val="10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Visibility: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dashboards show OEE (Overall Equipment Effectiveness), machine performance,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bottlenecks.Managers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make faster and better decisions.</a:t>
            </a:r>
          </a:p>
          <a:p>
            <a:pPr algn="just">
              <a:lnSpc>
                <a:spcPct val="10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Control: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Engineers can control machines remotely (relays, conveyors, HVAC) through web or mobile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dashboards.This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increases flexibility and reduces manual effort.</a:t>
            </a:r>
          </a:p>
          <a:p>
            <a:pPr algn="just">
              <a:lnSpc>
                <a:spcPct val="10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Analysis: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historical data is analyzed to identify patterns, energy usage,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inefficiencies.This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in cost reduction, optimization, and meeting regulatory standards.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9797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25DCD-E24B-425A-0513-7E1B8AC02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84827"/>
            <a:ext cx="10515600" cy="1867711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OF IOT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1C0DAB-6808-7EE5-9532-D330262B5D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838" y="914401"/>
            <a:ext cx="10847962" cy="25145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A5AE72-F657-E687-2CB8-9E2EE2A6A205}"/>
              </a:ext>
            </a:extLst>
          </p:cNvPr>
          <p:cNvSpPr txBox="1"/>
          <p:nvPr/>
        </p:nvSpPr>
        <p:spPr>
          <a:xfrm>
            <a:off x="661481" y="3929974"/>
            <a:ext cx="113813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diagram represents a 4-layer IoT architecture.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Perception Layer collects real-world data using sensors and devices like Arduino Uno.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Network Layer transfers this data through protocols like MQTT and TCP/IP.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Processing/Cloud Layer (e.g.,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ThingsBoard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CE) processes, stores, and analyzes the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Layer provides dashboards, alerts, and mobile access for users.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data flows from sensors to users, and control commands can be sent back to devices.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469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4C4BC-CFFF-D170-C7D5-F275992BB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A9912-1767-9A82-C828-E7985B682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microcontroller board based on ATmega328P.</a:t>
            </a:r>
          </a:p>
          <a:p>
            <a:pPr>
              <a:lnSpc>
                <a:spcPct val="1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for prototyping and embedded system projects.</a:t>
            </a:r>
          </a:p>
          <a:p>
            <a:pPr>
              <a:lnSpc>
                <a:spcPct val="1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Easily programmed using the Arduino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IDE. </a:t>
            </a:r>
          </a:p>
          <a:p>
            <a:pPr>
              <a:lnSpc>
                <a:spcPct val="1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digital and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I/O pins for interfacing components.</a:t>
            </a:r>
          </a:p>
          <a:p>
            <a:pPr>
              <a:lnSpc>
                <a:spcPct val="1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Operates on 5V power supply (USB or external adapter).</a:t>
            </a:r>
          </a:p>
          <a:p>
            <a:pPr>
              <a:lnSpc>
                <a:spcPct val="1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Beginner-friendly with simple hardware and coding.</a:t>
            </a:r>
          </a:p>
          <a:p>
            <a:pPr>
              <a:lnSpc>
                <a:spcPct val="1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applications like robotics, IoT, and home automation.</a:t>
            </a:r>
          </a:p>
          <a:p>
            <a:pPr marL="0" indent="0">
              <a:lnSpc>
                <a:spcPct val="100000"/>
              </a:lnSpc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859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B1FD6-7AC7-0EF0-7D21-41B77EB29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6901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79D152-FF3E-041B-64AA-B2B63E79F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513E04-CA92-B627-2406-D7CFF2FC6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581149"/>
            <a:ext cx="10671313" cy="476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037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48B7A-84DD-2381-D275-BE763C518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6962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7AFE83-6787-28D1-A4A8-BA9D6DF448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292087"/>
            <a:ext cx="10515600" cy="32103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732FB2B-ECD0-2791-D0FC-8B30F461E702}"/>
              </a:ext>
            </a:extLst>
          </p:cNvPr>
          <p:cNvSpPr txBox="1"/>
          <p:nvPr/>
        </p:nvSpPr>
        <p:spPr>
          <a:xfrm>
            <a:off x="993913" y="4621696"/>
            <a:ext cx="100186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diagram shows an IoT system with two sensor nodes using Arduino Uno.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collect data and send it via Ethernet using MQTT.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is processed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ThingsBoard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it is displayed on a web dashboard with charts and alerts, and users can control devices remotely.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014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E35EC-87C8-4CCE-CE2D-BA48C2B4A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1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2962C-ADFD-A1F3-7573-3686456CC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1722"/>
            <a:ext cx="10515600" cy="4825241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consists of:</a:t>
            </a:r>
          </a:p>
          <a:p>
            <a:pPr algn="just">
              <a:lnSpc>
                <a:spcPct val="10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DHT22: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DHT22 sensor is a digital sensor that measures and outputs accurate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temperature and humidity data.</a:t>
            </a:r>
          </a:p>
          <a:p>
            <a:pPr algn="just">
              <a:lnSpc>
                <a:spcPct val="10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LM35: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LM35 is a precision sensor that measures temperature and gives output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as a voltage proportional to the temperature.</a:t>
            </a:r>
          </a:p>
          <a:p>
            <a:pPr algn="just">
              <a:lnSpc>
                <a:spcPct val="10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Potentiometer: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Potentiometer is a variable resistor used to adjust voltage or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control current in a circuit.</a:t>
            </a:r>
          </a:p>
          <a:p>
            <a:pPr algn="just">
              <a:lnSpc>
                <a:spcPct val="10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Relay: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Relay is an electrically operated switch that uses a small current to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control a larger current circuit.</a:t>
            </a:r>
          </a:p>
          <a:p>
            <a:pPr algn="just">
              <a:lnSpc>
                <a:spcPct val="10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Green/Yellow/Red LED: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LED is a semiconductor device that emits light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when electric current flows through it.</a:t>
            </a:r>
          </a:p>
          <a:p>
            <a:pPr algn="just">
              <a:lnSpc>
                <a:spcPct val="10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button: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Push button is a simple switch that completes a circuit only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when it is pressed.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B6683AB-5DE0-3FC6-F626-6F3A9B3552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4973" y="2147509"/>
            <a:ext cx="1785731" cy="8306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E80B50E-8076-4BA2-8204-5DD7C2A44B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7920" y="4620006"/>
            <a:ext cx="1702905" cy="6921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6C5D9F4-7C5D-EB67-7456-2846578F74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9773" y="2978186"/>
            <a:ext cx="1559201" cy="90162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048F53A-45F7-629C-C99B-BAB2B706E2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069" y="3805102"/>
            <a:ext cx="1702905" cy="81490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513A206-F94F-6C11-5C62-A7FB5D868A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3451" y="1407317"/>
            <a:ext cx="1559201" cy="83067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3635C15-D13E-7C07-18DC-F574316FCB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3036" y="5312155"/>
            <a:ext cx="1528969" cy="97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166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6504E-31FD-5910-0766-5F69480F7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2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FB38D-E534-F4B1-E3E1-9EA076FCE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DHT22: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DHT22 sensor is a digital sensor that measures and outputs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accurate temperature and humidity data.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LDR: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LDR is a sensor whose resistance changes based on the intensity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of light falling on it.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PIR HC-SR501: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PIR HC-SR501 is a sensor that detects human motion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by sensing infrared radiation from moving objects.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44068F-3F20-4C2D-06F4-9AE9BCBA2F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2926" y="1198149"/>
            <a:ext cx="1136374" cy="13020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801A10-328E-BA8C-E26C-688DF535B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21" y="2500175"/>
            <a:ext cx="1391479" cy="11314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3B0057-9702-D24D-3FF4-9F3E6D0B4A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9964" y="4001294"/>
            <a:ext cx="1976231" cy="1013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250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2F556-A1E2-101E-4A6C-76025A49B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5574" y="660249"/>
            <a:ext cx="10117393" cy="726100"/>
          </a:xfrm>
        </p:spPr>
        <p:txBody>
          <a:bodyPr>
            <a:normAutofit fontScale="90000"/>
          </a:bodyPr>
          <a:lstStyle/>
          <a:p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REQUIREMENTS ARE :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1B8687-F714-101F-B3D3-C9A613DECA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1381" y="1386349"/>
            <a:ext cx="10009238" cy="4611328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 Functional Requirements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Simulatory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Requirements </a:t>
            </a:r>
          </a:p>
          <a:p>
            <a:pPr algn="l"/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Functional Requirements 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sensor data collection every 5 seconds.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threshold-based alerting (temperature, vibration, humidity).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relay / actuator control via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ThingsBoard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trend analysis and data reporting.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Multi-node coordination for emergency scenarios.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MQTT telemetry publishing with JSON payload format.</a:t>
            </a:r>
          </a:p>
        </p:txBody>
      </p:sp>
    </p:spTree>
    <p:extLst>
      <p:ext uri="{BB962C8B-B14F-4D97-AF65-F5344CB8AC3E}">
        <p14:creationId xmlns:p14="http://schemas.microsoft.com/office/powerpoint/2010/main" val="1867291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E9634-D7A4-69B8-F0CA-6316AB260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6118"/>
            <a:ext cx="9144000" cy="1011237"/>
          </a:xfrm>
        </p:spPr>
        <p:txBody>
          <a:bodyPr>
            <a:normAutofit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ThingsBoard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492E20-8BB2-DA2A-695D-7B9B0EA76E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865" y="1691148"/>
            <a:ext cx="10009238" cy="4689987"/>
          </a:xfrm>
        </p:spPr>
        <p:txBody>
          <a:bodyPr>
            <a:normAutofit/>
          </a:bodyPr>
          <a:lstStyle/>
          <a:p>
            <a:pPr algn="just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ThingsBoard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open-source IoT platform used to manage devices, collect and process data, and visualize it in real time, supporting protocols like MQTT, HTTP,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CoAP.It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communication protocols like MQTT, HTTP, and CoAP for device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connectivity.It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complete system to manage, analyze, and visualize IoT data efficiently.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Architecture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1A6DDE-A505-5D59-74A5-61CD0F30B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214" y="4041058"/>
            <a:ext cx="10274710" cy="167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325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C3B94-AA08-CE2C-4F18-0CBF2BDDC4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348" y="571757"/>
            <a:ext cx="9144000" cy="78509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ThingsBoard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WORKS ??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F5CD54-6520-7CD3-8FC0-9EA5F57F7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6348" y="1848466"/>
            <a:ext cx="9144000" cy="3991896"/>
          </a:xfrm>
        </p:spPr>
        <p:txBody>
          <a:bodyPr>
            <a:normAutofit/>
          </a:bodyPr>
          <a:lstStyle/>
          <a:p>
            <a:pPr algn="just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ThingsBoard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Dasboard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in three main parts :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Management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It allows you to register, monitor, and control IoT devices from a single dashboard.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It collects telemetry data from sensors and shows it instantly using graphs and charts.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Engine &amp; Alerts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Incoming data is processed using rules to trigger actions like alarms or notifications.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085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127F1-CA75-FB2C-DB1A-C1B199C61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5174" y="414441"/>
            <a:ext cx="9144000" cy="627779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MQTT and JSON 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F88868-A7FA-B170-21A2-DEE203CF58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1884" y="1602659"/>
            <a:ext cx="10215716" cy="4365522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MQTT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(Message Queuing Telemetry Transport) is a lightweight messaging protocol used for communication between IoT devices over the internet. It works on a publish–subscribe model using a broker.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 publish data to topics, and other devices subscribe to receive it. It is designed for low bandwidth, low power, and unreliable networks. Widely used in IoT platforms like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ThingsBoard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data transfer.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(JavaScript Object Notation) is a lightweight data format used to store and exchange data between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systems.It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key–value pairs to represent data (like name: value).Easy for both humans and machines to read and write.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web and IoT applications.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{ "temperature": 28, "humidity": 60 }Commonly used with protocols like MQTT to send sensor data.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264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127F1-CA75-FB2C-DB1A-C1B199C61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5174" y="414441"/>
            <a:ext cx="9144000" cy="627779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MQTT and JSON 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F88868-A7FA-B170-21A2-DEE203CF58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1884" y="1602659"/>
            <a:ext cx="10215716" cy="4365522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MQTT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(Message Queuing Telemetry Transport) is a lightweight messaging protocol used for communication between IoT devices over the internet. It works on a publish–subscribe model using a broker.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 publish data to topics, and other devices subscribe to receive it. It is designed for low bandwidth, low power, and unreliable networks. Widely used in IoT platforms like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ThingsBoard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data transfer.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(JavaScript Object Notation) is a lightweight data format used to store and exchange data between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systems.It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key–value pairs to represent data (like name: value).Easy for both humans and machines to read and write.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web and IoT applications.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{ "temperature": 28, "humidity": 60 }Commonly used with protocols like MQTT to send sensor data.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8811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3C6B5-46E0-5427-642F-B42CAA538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66917" y="222712"/>
            <a:ext cx="9144000" cy="696605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Non Functional Requirements 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6F7F11-3F82-9663-F3B0-A839FC0560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89702"/>
            <a:ext cx="9144000" cy="5279923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latency &lt; 5 seconds.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uptime &gt; 99% 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to 100+ nodes.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MQTT message size ≤ 256 bytes.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load time &lt; 3 seconds.</a:t>
            </a:r>
          </a:p>
          <a:p>
            <a:pPr algn="l"/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Simulatory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Requirements :</a:t>
            </a:r>
          </a:p>
          <a:p>
            <a:pPr algn="l"/>
            <a:endParaRPr 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PICSimLab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Arduino Uno simulation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Virtual sensors: DHT22, LM35, PIR, LDR.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Simulated Ethernet (W5100) connectivity.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physical hardware required.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full firmware testing &amp; MQTT.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5295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8C6F5-7CD6-D58F-E9DB-AE8D5760C9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76748" y="184517"/>
            <a:ext cx="9144000" cy="844089"/>
          </a:xfrm>
        </p:spPr>
        <p:txBody>
          <a:bodyPr>
            <a:normAutofit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PICSiM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Lab : 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B6128E-B581-52FF-2801-E0B1C12859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560" y="1582993"/>
            <a:ext cx="4729316" cy="4296697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PICSimLab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simulation tool used to design and test microcontroller-based circuits virtually.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allows you to simulate boards like PIC, Arduino, and ESP without real hardware.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connect sensors, LEDs, and other components in a virtual environment.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testing code and circuit behavior before real implementation.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for learning embedded systems and IoT projects.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B2CF20-6279-B8F0-02CA-AA07C1322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126" y="400082"/>
            <a:ext cx="4817808" cy="26577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2875E5-7AB4-B691-7A42-90FC65476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126" y="3342967"/>
            <a:ext cx="4817808" cy="299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074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65A30-1ACA-D16F-52FF-547340CDA5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5845" y="417871"/>
            <a:ext cx="9144000" cy="7620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DESIGN 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BD3EF4-35BE-5F26-A06A-8D7A3ACA4D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2723" y="1570703"/>
            <a:ext cx="9753599" cy="4692445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Design Requirements Are :</a:t>
            </a:r>
          </a:p>
          <a:p>
            <a:pPr algn="just"/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Protocol: MQTT v3.1.1 over TCP/IP (Ethernet)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Broker  -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ThingsBoard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(1883 / 8883 TLS)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QoS Level -   1 — At Least Once Delivery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Keep-Alive - 60 seconds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Payload Format - JSON (~150 bytes/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 Rate - Every 5 seconds/node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Throughput - 60 bytes/sec (2 nodes)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Reconnect Strategy - Exp. backoff (5s → 60s)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- 256-bit device tokens</a:t>
            </a:r>
          </a:p>
        </p:txBody>
      </p:sp>
    </p:spTree>
    <p:extLst>
      <p:ext uri="{BB962C8B-B14F-4D97-AF65-F5344CB8AC3E}">
        <p14:creationId xmlns:p14="http://schemas.microsoft.com/office/powerpoint/2010/main" val="1702232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C42EE-FA3F-DEC3-B05B-525D0B47ED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6684" y="434105"/>
            <a:ext cx="9537290" cy="893250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MQTT PROTOCOL IMPLEMENTATION INVOLVES : 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948A56-763F-1089-9394-C8E864D5CB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0206" y="1622323"/>
            <a:ext cx="9950246" cy="4572000"/>
          </a:xfrm>
        </p:spPr>
        <p:txBody>
          <a:bodyPr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Setup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Each machine is connected to a controller (like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Aurdino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that collects sensor data (temperature, vibration, etc.).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MQTT Connection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Devices connect to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ThingsBoard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broker using MQTT over TCP/IP (Ethernet).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Publishing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Sensor data is formatted as JSON payload and sent to a telemetry topic at regular intervals (every 5 seconds).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QoS level 1 ensures data is delivered at least once, even if network issues occur.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Management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Keep-alive (60 sec) and automatic reconnect maintain continuous communication.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Each device uses a unique access token for authentication.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&amp; Alerts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ThingsBoard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processes incoming data, updates dashboards, and triggers alerts based on predefined rules.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5717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7AA70-2471-C94A-37CD-1D2504A503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71948"/>
            <a:ext cx="9144000" cy="776749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: Automated Alert Rules 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C08BCD-D880-00E7-7914-F5DC30577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7858" y="1769806"/>
            <a:ext cx="9871587" cy="4454013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alert rules in a smart factory monitoring system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ThingsBoard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temperature &gt; 35°C, a critical alert is created, email/Telegram notifications are sent, and a red LED turns 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vibration &gt; 700 (ADC), a warning alert is triggered, yellow LED glows, and the event is logged.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humidity &gt; 80%, a warning alert is generated and notifications are sent.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rule engine continuously checks incoming sensor data and automatically triggers actions.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3860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FCC7A-08DE-7341-1A47-D94A608CF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710"/>
            <a:ext cx="9144000" cy="7752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AND ENHANCMENTS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587C28-1E44-64AE-9BEB-0DED9E1D8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222" y="1750142"/>
            <a:ext cx="10028902" cy="4739148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Predictive Maintenance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 machine learning to predict failures before they happen, reducing downtime.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Process data locally on devices (ESP32, gateways) to reduce latency and improve speed.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 Dashboard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analytics, trends, and performance insights for better decision-making.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 Integration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Monitor and control factory systems remotely through smartphones.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Expand to multiple factories with centralized cloud monitoring.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33432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21D6B-8375-998E-2532-7951ED3CA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71" y="1956619"/>
            <a:ext cx="10515600" cy="209427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2076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2054</Words>
  <Application>Microsoft Office PowerPoint</Application>
  <PresentationFormat>Widescreen</PresentationFormat>
  <Paragraphs>173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Bodoni MT Black</vt:lpstr>
      <vt:lpstr>Calibri</vt:lpstr>
      <vt:lpstr>Calibri Light</vt:lpstr>
      <vt:lpstr>Times New Roman</vt:lpstr>
      <vt:lpstr>Office Theme</vt:lpstr>
      <vt:lpstr>IOT Internship</vt:lpstr>
      <vt:lpstr>INTRODUCTION</vt:lpstr>
      <vt:lpstr>APPLICATIONS:</vt:lpstr>
      <vt:lpstr>USES OF IOT:</vt:lpstr>
      <vt:lpstr>OVERVIEW OF PROJECT Title :-Smart Factory Monitoring System </vt:lpstr>
      <vt:lpstr>ARCHITECTURE OF IOT</vt:lpstr>
      <vt:lpstr>ARDUINO UNO</vt:lpstr>
      <vt:lpstr>SYSTEM ARCHITECTURE</vt:lpstr>
      <vt:lpstr>BLOCK DIAGRAM</vt:lpstr>
      <vt:lpstr>NODE 1</vt:lpstr>
      <vt:lpstr>NODE 2</vt:lpstr>
      <vt:lpstr> PROJECT REQUIREMENTS ARE : </vt:lpstr>
      <vt:lpstr>ThingsBoard dashboard</vt:lpstr>
      <vt:lpstr>HOW ThingsBoard Dashboard WORKS ??</vt:lpstr>
      <vt:lpstr>MQTT and JSON </vt:lpstr>
      <vt:lpstr>MQTT and JSON </vt:lpstr>
      <vt:lpstr>2. Non Functional Requirements :</vt:lpstr>
      <vt:lpstr>PICSiM Lab : </vt:lpstr>
      <vt:lpstr>COMMUNICATION DESIGN </vt:lpstr>
      <vt:lpstr>MQTT PROTOCOL IMPLEMENTATION INVOLVES : </vt:lpstr>
      <vt:lpstr>RESULT : Automated Alert Rules </vt:lpstr>
      <vt:lpstr>FUTURE SCOPE AND ENHANCMENTS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Nisarga Hosamani</dc:creator>
  <cp:lastModifiedBy>TEJASWHI K Y</cp:lastModifiedBy>
  <cp:revision>5</cp:revision>
  <dcterms:created xsi:type="dcterms:W3CDTF">2026-04-19T17:22:10Z</dcterms:created>
  <dcterms:modified xsi:type="dcterms:W3CDTF">2026-04-23T11:12:18Z</dcterms:modified>
</cp:coreProperties>
</file>